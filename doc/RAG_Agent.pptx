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64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智能财务/文档 RAG 问答系统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© 2026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智能财务/文档 RAG 问答系统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架构设计与实现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 项目背景与系统概述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传统的 RAG 系统在处理复杂表格的 PDF（如财报、研报）时面临巨大挑战</a:t>
            </a:r>
            <a:endParaRPr lang="en-US" sz="2000" dirty="0"/>
          </a:p>
          <a:p>
            <a:pPr marL="685800" lvl="1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痛点：“表格乱码”、“长表格截断”、“大模型回答不按格式”等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本项目目标</a:t>
            </a:r>
            <a:endParaRPr lang="en-US" sz="2000" dirty="0"/>
          </a:p>
          <a:p>
            <a:pPr marL="685800" lvl="1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构建一个高可用、抗干扰、纯结构化输出的本地/云端混合 RAG 系统</a:t>
            </a:r>
            <a:endParaRPr lang="en-US" sz="2000" dirty="0"/>
          </a:p>
          <a:p>
            <a:pPr marL="685800" lvl="1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彻底打通从“复杂 PDF 解析”到“精准回答提取”的全链路</a:t>
            </a:r>
            <a:b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* </a:t>
            </a:r>
            <a:r>
              <a:rPr lang="zh-CN" alt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</a:t>
            </a:r>
            <a:r>
              <a:rPr lang="en-US" altLang="zh-CN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</a:t>
            </a:r>
            <a:r>
              <a:rPr lang="zh-CN" alt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中包含普通文本</a:t>
            </a:r>
            <a:r>
              <a:rPr lang="en-US" altLang="zh-CN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表格和</a:t>
            </a:r>
            <a:r>
              <a:rPr lang="zh-CN" alt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扫描版</a:t>
            </a:r>
            <a:endParaRPr lang="zh-CN" altLang="en-US" sz="2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 核心模块设计（四大架构）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本项目由四个核心模块组成，形成了一条完整的数据流转闭环：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文档解析模块 (PDF Parser)</a:t>
            </a:r>
            <a:r>
              <a:rPr lang="en-US" sz="2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将非结构化的 PDF 转化为高质量的结构化 Markdown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知识库与检索引擎模块 (Knowledge Base)</a:t>
            </a:r>
            <a:r>
              <a:rPr lang="en-US" sz="2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文本切分（Chunking）、向量化存储与高效相关性检索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AI 代理模块 (RAG Agent)</a:t>
            </a:r>
            <a:r>
              <a:rPr lang="en-US" sz="2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组装检索上下文，调度大模型，强制输出结构化回答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流程编排与交互模块 (Main Pipeline)</a:t>
            </a:r>
            <a:r>
              <a:rPr lang="en-US" sz="2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统筹协调模块，提供 CLI 界面并保障极高的容错与健壮性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文档解析模块 (PDF Parser)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</a:t>
            </a:r>
            <a:r>
              <a:rPr lang="en-US" sz="20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qianwen_pdf_parser.py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</a:t>
            </a:r>
            <a:endParaRPr lang="en-US" sz="2000" dirty="0"/>
          </a:p>
          <a:p>
            <a:pPr marL="685800" lvl="1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摒弃传统的纯文本抽取，采用 PyMuPDF 将 PDF 逐页渲染为高清晰图片</a:t>
            </a:r>
            <a:endParaRPr lang="en-US" sz="2000" dirty="0"/>
          </a:p>
          <a:p>
            <a:pPr marL="685800" lvl="1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引入多模态大模型 (Qwen-VL-Plus) 进行视觉 OCR 与排版还原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解决的痛点：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完美解决了传统解析工具对财报中“复杂表格”提取错位的致命问题</a:t>
            </a:r>
            <a:r>
              <a:rPr lang="en-US" sz="2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（实测中信证券复杂财务报表，结构 100% 还原）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知识库与检索引擎 (Knowledge Base)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</a:t>
            </a:r>
            <a:r>
              <a:rPr lang="en-US" sz="20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knowedge_base.py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离线优先的 Embedding：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 ModelScope，使用 m3e-base 进行本地端侧向量化，兼顾隐私与速度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智能分块 (Smart Chunking)：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针对长表格，自研“表头状态感知与继承”分块算法，防止丢失语义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双路混合检索 (Hybrid Search)：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稠密检索 (ChromaDB) + 稀疏检索 (Jieba &amp; BM25 拦截数值)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 RRF (Reciprocal Rank Fusion) 交叉排序融合提取 Top-K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AI 代理模块 (RAG Agent)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</a:t>
            </a:r>
            <a:r>
              <a:rPr lang="en-US" sz="20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rag_agent.py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系统提示词工程 (System Prompt)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严格限制大模型幻觉：“禁止使用内部知识”、“信息不足必须回答无法回答”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精准溯源机制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强制要求大模型在回答后，提取并附带对应的“源文档页码”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Pydantic 结构化输出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 OpenAI SDK 的 JSON 模式，定义 RAGResponse 数据类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确保强制输出 is_answerable, answer, cited_pages 三大标准字段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流程编排与交互模块 (Main Pipeline)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</a:t>
            </a:r>
            <a:r>
              <a:rPr lang="en-US" sz="20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main.py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参数化运行与状态管理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 --rebuild 指令，一键实现知识库的物理级清空与重建</a:t>
            </a:r>
            <a:endParaRPr lang="en-US" sz="2000" dirty="0"/>
          </a:p>
          <a:p>
            <a:pPr marL="0" lvl="2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极限容错防御机制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自研强大的 JSON 拦截清洗器。利用正则 re.search 暴力剥离干扰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引入多重类型断言，彻底解决了大模型胡言乱语导致的动态解包宕机问题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 核心亮点与创新 (攻克的“坑”)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“看不懂表格”的破局：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多模态降维打击。直接将页面当成图片给视觉大模型看，输出标准 Markdown 表格，为下游提供极其干净的语料。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“找不到数据”的破局：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“表头继承切分算法” + ChromaDB 与 BM25 的 RRF 双路召回。让语义理解和精准财务数值召回双管齐下。</a:t>
            </a:r>
            <a:endParaRPr lang="en-US" sz="2000" dirty="0"/>
          </a:p>
          <a:p>
            <a:pPr marL="0" lvl="1" indent="0">
              <a:lnSpc>
                <a:spcPts val="3600"/>
              </a:lnSpc>
              <a:buSzPct val="100000"/>
              <a:buNone/>
            </a:pPr>
            <a:r>
              <a:rPr lang="en-US" sz="2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“输出不可控”的破局：</a:t>
            </a:r>
            <a:r>
              <a:rPr lang="en-US" sz="2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Pydantic 约束 + 正则防御性解析。无论大模型穿什么“外套”或带前缀，都能精准扒出核心 JSON 字典，保障企业级稳定性。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0"/>
          <p:cNvSpPr/>
          <p:nvPr/>
        </p:nvSpPr>
        <p:spPr>
          <a:xfrm>
            <a:off x="118745" y="833755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</a:t>
            </a: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 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</a:t>
            </a:r>
            <a:endParaRPr lang="zh-CN" altLang="en-US" sz="2800" b="1" dirty="0">
              <a:solidFill>
                <a:srgbClr val="1E3A8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7030" y="15652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 </a:t>
            </a:r>
            <a:r>
              <a:rPr lang="zh-CN" altLang="en-US"/>
              <a:t>启动</a:t>
            </a:r>
            <a:r>
              <a:rPr lang="zh-CN" altLang="en-US"/>
              <a:t>程序</a:t>
            </a:r>
            <a:endParaRPr lang="zh-CN" altLang="en-US"/>
          </a:p>
        </p:txBody>
      </p:sp>
      <p:pic>
        <p:nvPicPr>
          <p:cNvPr id="7" name="图片 6" descr="st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1933575"/>
            <a:ext cx="9144000" cy="3086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8807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</a:t>
            </a:r>
            <a:r>
              <a:rPr lang="zh-CN" altLang="en-US"/>
              <a:t>内容相关</a:t>
            </a:r>
            <a:r>
              <a:rPr lang="zh-CN" altLang="en-US"/>
              <a:t>问题</a:t>
            </a:r>
            <a:endParaRPr lang="zh-CN" altLang="en-US"/>
          </a:p>
        </p:txBody>
      </p:sp>
      <p:pic>
        <p:nvPicPr>
          <p:cNvPr id="3" name="图片 2" descr="question1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4135"/>
            <a:ext cx="9143365" cy="4656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5890" y="7715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 </a:t>
            </a:r>
            <a:r>
              <a:rPr lang="zh-CN" altLang="en-US"/>
              <a:t>内容相关问题</a:t>
            </a:r>
            <a:r>
              <a:rPr lang="zh-CN" altLang="en-US"/>
              <a:t>重复</a:t>
            </a:r>
            <a:endParaRPr lang="zh-CN" altLang="en-US"/>
          </a:p>
        </p:txBody>
      </p:sp>
      <p:pic>
        <p:nvPicPr>
          <p:cNvPr id="3" name="图片 2" descr="question2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0325"/>
            <a:ext cx="9144000" cy="4608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000" y="7632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 </a:t>
            </a:r>
            <a:r>
              <a:rPr lang="zh-CN" altLang="en-US"/>
              <a:t>无关内容</a:t>
            </a:r>
            <a:r>
              <a:rPr lang="zh-CN" altLang="en-US"/>
              <a:t>问题</a:t>
            </a:r>
            <a:endParaRPr lang="zh-CN" altLang="en-US"/>
          </a:p>
        </p:txBody>
      </p:sp>
      <p:pic>
        <p:nvPicPr>
          <p:cNvPr id="3" name="图片 2" descr="question6-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6345"/>
            <a:ext cx="898842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4805" y="8216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</a:t>
            </a:r>
            <a:r>
              <a:rPr lang="zh-CN" altLang="en-US"/>
              <a:t>结束</a:t>
            </a:r>
            <a:r>
              <a:rPr lang="zh-CN" altLang="en-US"/>
              <a:t>退出</a:t>
            </a:r>
            <a:endParaRPr lang="zh-CN" altLang="en-US"/>
          </a:p>
        </p:txBody>
      </p:sp>
      <p:pic>
        <p:nvPicPr>
          <p:cNvPr id="3" name="图片 2" descr="e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45" y="1189990"/>
            <a:ext cx="645795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0"/>
          <p:cNvSpPr/>
          <p:nvPr/>
        </p:nvSpPr>
        <p:spPr>
          <a:xfrm>
            <a:off x="148590" y="752475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</a:t>
            </a: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 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已知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2800" b="1" dirty="0">
              <a:solidFill>
                <a:srgbClr val="1E3A8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67435" y="1483995"/>
            <a:ext cx="77546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目前采用将</a:t>
            </a:r>
            <a:r>
              <a:rPr lang="en-US" altLang="zh-CN"/>
              <a:t>PDF</a:t>
            </a:r>
            <a:r>
              <a:rPr lang="zh-CN" altLang="en-US"/>
              <a:t>整体转图片，再交给多模态大模型转成</a:t>
            </a:r>
            <a:r>
              <a:rPr lang="en-US" altLang="zh-CN"/>
              <a:t>MD</a:t>
            </a:r>
            <a:r>
              <a:rPr lang="zh-CN" altLang="en-US"/>
              <a:t>文档的方式；</a:t>
            </a:r>
            <a:br>
              <a:rPr lang="zh-CN" altLang="en-US"/>
            </a:br>
            <a:r>
              <a:rPr lang="en-US" altLang="zh-CN"/>
              <a:t>        </a:t>
            </a:r>
            <a:r>
              <a:rPr lang="zh-CN" altLang="en-US"/>
              <a:t>部署或者运行时可以再</a:t>
            </a:r>
            <a:r>
              <a:rPr lang="en-US" altLang="zh-CN"/>
              <a:t>config.yaml</a:t>
            </a:r>
            <a:r>
              <a:rPr lang="zh-CN" altLang="en-US"/>
              <a:t>文件中配置相应的</a:t>
            </a:r>
            <a:r>
              <a:rPr lang="en-US" altLang="zh-CN"/>
              <a:t>base_url</a:t>
            </a:r>
            <a:r>
              <a:rPr lang="zh-CN" altLang="en-US"/>
              <a:t>，</a:t>
            </a:r>
            <a:r>
              <a:rPr lang="en-US" altLang="zh-CN"/>
              <a:t>API_KEY</a:t>
            </a:r>
            <a:r>
              <a:rPr lang="zh-CN" altLang="en-US"/>
              <a:t>即可使用。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</a:t>
            </a:r>
            <a:r>
              <a:rPr lang="zh-CN" altLang="en-US"/>
              <a:t>测试采用的时千问多模态模型。运行时，先要把</a:t>
            </a:r>
            <a:r>
              <a:rPr lang="en-US" altLang="zh-CN"/>
              <a:t>API_KEY</a:t>
            </a:r>
            <a:r>
              <a:rPr lang="zh-CN" altLang="en-US"/>
              <a:t>设置为环境变量。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/>
              <a:t>      </a:t>
            </a:r>
            <a:r>
              <a:rPr lang="zh-CN" altLang="en-US"/>
              <a:t>有本地处理</a:t>
            </a:r>
            <a:r>
              <a:rPr lang="en-US" altLang="zh-CN"/>
              <a:t>OCR</a:t>
            </a:r>
            <a:r>
              <a:rPr lang="zh-CN" altLang="en-US"/>
              <a:t>的解决方案，如</a:t>
            </a:r>
            <a:r>
              <a:rPr lang="en-US" altLang="zh-CN"/>
              <a:t>’paddleocr’</a:t>
            </a:r>
            <a:r>
              <a:rPr lang="zh-CN" altLang="en-US"/>
              <a:t>，需要有</a:t>
            </a:r>
            <a:r>
              <a:rPr lang="en-US" altLang="zh-CN"/>
              <a:t>GPU</a:t>
            </a:r>
            <a:r>
              <a:rPr lang="zh-CN" altLang="en-US"/>
              <a:t>的设备才能运行。虽然有</a:t>
            </a:r>
            <a:r>
              <a:rPr lang="en-US" altLang="zh-CN"/>
              <a:t>CPU</a:t>
            </a:r>
            <a:r>
              <a:rPr lang="zh-CN" altLang="en-US"/>
              <a:t>版，但是实测发现总是有底层错误无法解决。最后不得不放弃改用多模态大模型</a:t>
            </a:r>
            <a:r>
              <a:rPr lang="zh-CN" altLang="en-US"/>
              <a:t>处理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0"/>
          <p:cNvSpPr/>
          <p:nvPr/>
        </p:nvSpPr>
        <p:spPr>
          <a:xfrm>
            <a:off x="148590" y="752475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</a:t>
            </a: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 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已知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2800" b="1" dirty="0">
              <a:solidFill>
                <a:srgbClr val="1E3A8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2585" y="1483995"/>
            <a:ext cx="8328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zh-CN" altLang="en-US"/>
              <a:t>当前只针对单个文件，后续可以将输出</a:t>
            </a:r>
            <a:r>
              <a:rPr lang="en-US" altLang="zh-CN"/>
              <a:t>PDF</a:t>
            </a:r>
            <a:r>
              <a:rPr lang="zh-CN" altLang="en-US"/>
              <a:t>文件统一命名，保存到本地以备</a:t>
            </a:r>
            <a:r>
              <a:rPr lang="zh-CN" altLang="en-US"/>
              <a:t>查验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2585" y="2048510"/>
            <a:ext cx="8331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  </a:t>
            </a:r>
            <a:r>
              <a:rPr lang="zh-CN" altLang="en-US"/>
              <a:t>文件过大或者图片太大，可以适当降素，减少多模态</a:t>
            </a:r>
            <a:r>
              <a:rPr lang="en-US" altLang="zh-CN"/>
              <a:t>token</a:t>
            </a:r>
            <a:r>
              <a:rPr lang="zh-CN" altLang="en-US"/>
              <a:t>消费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9410" y="2693670"/>
            <a:ext cx="8331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  </a:t>
            </a:r>
            <a:r>
              <a:rPr lang="zh-CN" altLang="en-US"/>
              <a:t>如果表格跨页，则需要对接表格，即将相连的</a:t>
            </a:r>
            <a:r>
              <a:rPr lang="en-US" altLang="zh-CN"/>
              <a:t>PDF</a:t>
            </a:r>
            <a:r>
              <a:rPr lang="zh-CN" altLang="en-US"/>
              <a:t>图片都传给多模态大模型</a:t>
            </a:r>
            <a:r>
              <a:rPr lang="zh-CN" altLang="en-US"/>
              <a:t>处理；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2585" y="3338830"/>
            <a:ext cx="8331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</a:t>
            </a:r>
            <a:r>
              <a:rPr lang="zh-CN" altLang="en-US"/>
              <a:t>为了减少启动时间或者加载时间，</a:t>
            </a:r>
            <a:r>
              <a:rPr lang="en-US" altLang="zh-CN"/>
              <a:t>embeding</a:t>
            </a:r>
            <a:r>
              <a:rPr lang="zh-CN" altLang="en-US"/>
              <a:t>模型和向量数据库都做了本地缓存；只需要配置</a:t>
            </a:r>
            <a:r>
              <a:rPr lang="en-US" altLang="zh-CN"/>
              <a:t>config.yaml</a:t>
            </a:r>
            <a:r>
              <a:rPr lang="zh-CN" altLang="en-US"/>
              <a:t>里的</a:t>
            </a:r>
            <a:r>
              <a:rPr lang="en-US" altLang="zh-CN"/>
              <a:t>knoweldge.db_path</a:t>
            </a:r>
            <a:r>
              <a:rPr lang="zh-CN" altLang="en-US"/>
              <a:t>和</a:t>
            </a:r>
            <a:r>
              <a:rPr lang="en-US" altLang="zh-CN"/>
              <a:t>knoweldge.mode_path </a:t>
            </a:r>
            <a:r>
              <a:rPr lang="zh-CN" altLang="en-US"/>
              <a:t>为可用的路径，系统会自动缓存；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0"/>
          <p:cNvSpPr/>
          <p:nvPr/>
        </p:nvSpPr>
        <p:spPr>
          <a:xfrm>
            <a:off x="148590" y="752475"/>
            <a:ext cx="112745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</a:t>
            </a:r>
            <a:r>
              <a:rPr 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 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已知</a:t>
            </a:r>
            <a:r>
              <a:rPr lang="zh-CN" altLang="en-US" sz="28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2800" b="1" dirty="0">
              <a:solidFill>
                <a:srgbClr val="1E3A8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6865" y="1483995"/>
            <a:ext cx="79552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 </a:t>
            </a:r>
            <a:r>
              <a:rPr lang="zh-CN" altLang="en-US"/>
              <a:t>对于</a:t>
            </a:r>
            <a:r>
              <a:rPr lang="en-US" altLang="zh-CN"/>
              <a:t>“</a:t>
            </a:r>
            <a:r>
              <a:rPr lang="zh-CN" altLang="en-US"/>
              <a:t>无答案</a:t>
            </a:r>
            <a:r>
              <a:rPr lang="en-US" altLang="zh-CN"/>
              <a:t>”</a:t>
            </a:r>
            <a:r>
              <a:rPr lang="zh-CN" altLang="en-US"/>
              <a:t>问题，目前只是在</a:t>
            </a:r>
            <a:r>
              <a:rPr lang="en-US" altLang="zh-CN"/>
              <a:t>prompt</a:t>
            </a:r>
            <a:r>
              <a:rPr lang="zh-CN" altLang="en-US"/>
              <a:t>层面做了限制。后续可以通过检索内容的相关性或者得分来做物理限制。如果得分过低，直接就回复用户</a:t>
            </a:r>
            <a:r>
              <a:rPr lang="en-US" altLang="zh-CN"/>
              <a:t>“</a:t>
            </a:r>
            <a:r>
              <a:rPr lang="zh-CN" altLang="en-US"/>
              <a:t>无法回答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16865" y="2533015"/>
            <a:ext cx="79552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7. Agent</a:t>
            </a:r>
            <a:r>
              <a:rPr lang="zh-CN" altLang="en-US"/>
              <a:t>部分可以增加</a:t>
            </a:r>
            <a:r>
              <a:rPr lang="en-US" altLang="zh-CN"/>
              <a:t>Hooks</a:t>
            </a:r>
            <a:r>
              <a:rPr lang="zh-CN" altLang="en-US"/>
              <a:t>，来处理提交前的检查，如上面所说的检索内容得分过低，直接答复用户，不用提交</a:t>
            </a:r>
            <a:r>
              <a:rPr lang="en-US" altLang="zh-CN"/>
              <a:t>LLM</a:t>
            </a:r>
            <a:r>
              <a:rPr lang="zh-CN" altLang="en-US"/>
              <a:t>。另外还能统计问题回复后，</a:t>
            </a:r>
            <a:r>
              <a:rPr lang="en-US" altLang="zh-CN"/>
              <a:t>token</a:t>
            </a:r>
            <a:r>
              <a:rPr lang="zh-CN" altLang="en-US"/>
              <a:t>的使用量等</a:t>
            </a:r>
            <a:r>
              <a:rPr lang="zh-CN" altLang="en-US"/>
              <a:t>统计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16865" y="3646805"/>
            <a:ext cx="79552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 Agent</a:t>
            </a:r>
            <a:r>
              <a:rPr lang="zh-CN" altLang="en-US"/>
              <a:t>可以采用答复，再提交问题，上下文和答案再次让</a:t>
            </a:r>
            <a:r>
              <a:rPr lang="en-US" altLang="zh-CN"/>
              <a:t>LLM</a:t>
            </a:r>
            <a:r>
              <a:rPr lang="zh-CN" altLang="en-US"/>
              <a:t>确认的方式自检；同时</a:t>
            </a:r>
            <a:r>
              <a:rPr lang="en-US" altLang="zh-CN"/>
              <a:t>PDF</a:t>
            </a:r>
            <a:r>
              <a:rPr lang="zh-CN" altLang="en-US"/>
              <a:t>分析，也采用这种生成答案，提交全部输入和输出的</a:t>
            </a:r>
            <a:r>
              <a:rPr lang="en-US" altLang="zh-CN"/>
              <a:t>MD</a:t>
            </a:r>
            <a:r>
              <a:rPr lang="zh-CN" altLang="en-US"/>
              <a:t>让</a:t>
            </a:r>
            <a:r>
              <a:rPr lang="en-US" altLang="zh-CN"/>
              <a:t>LLM</a:t>
            </a:r>
            <a:r>
              <a:rPr lang="zh-CN" altLang="en-US"/>
              <a:t>来再次确认的方式进行自检，提高系统的</a:t>
            </a:r>
            <a:r>
              <a:rPr lang="zh-CN" altLang="en-US"/>
              <a:t>可靠度。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 交流时间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2342</Words>
  <Application>WPS 演示</Application>
  <PresentationFormat>On-screen Show (16:9)</PresentationFormat>
  <Paragraphs>97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塞外客</cp:lastModifiedBy>
  <cp:revision>2</cp:revision>
  <dcterms:created xsi:type="dcterms:W3CDTF">2026-06-19T07:57:00Z</dcterms:created>
  <dcterms:modified xsi:type="dcterms:W3CDTF">2026-06-19T09:08:44Z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4052A1736337467BAE10A0678BB47A8F_12</vt:lpwstr>
  </property>
</Properties>
</file>